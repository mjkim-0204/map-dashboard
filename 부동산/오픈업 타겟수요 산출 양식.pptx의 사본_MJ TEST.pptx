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vnd.openxmlformats-officedocument.vmlDrawing" Extension="vml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spreadsheetml.sheet" PartName="/ppt/embeddings/Microsoft_Excel_Sheet2.xlsx"/>
  <Override ContentType="application/vnd.openxmlformats-officedocument.spreadsheetml.sheet" PartName="/ppt/embeddings/Microsoft_Excel_Sheet1.xlsx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gkABCfzlipt+RcrvY6Xeet/Cc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7C933A-4444-4D1C-B4A3-3C3B16173B71}">
  <a:tblStyle styleId="{A17C933A-4444-4D1C-B4A3-3C3B16173B71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4.png"/><Relationship Id="rId5" Type="http://schemas.openxmlformats.org/officeDocument/2006/relationships/package" Target="../embeddings/Microsoft_Excel_Sheet1.xlsx"/><Relationship Id="rId6" Type="http://schemas.openxmlformats.org/officeDocument/2006/relationships/package" Target="../embeddings/Microsoft_Excel_Sheet1.xlsx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vmlDrawing" Target="../drawings/vmlDrawing2.vml"/><Relationship Id="rId4" Type="http://schemas.openxmlformats.org/officeDocument/2006/relationships/package" Target="../embeddings/Microsoft_Excel_Sheet2.xlsx"/><Relationship Id="rId5" Type="http://schemas.openxmlformats.org/officeDocument/2006/relationships/package" Target="../embeddings/Microsoft_Excel_Sheet2.xlsx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지도, 텍스트, 평면도이(가) 표시된 사진&#10;&#10;AI 생성 콘텐츠는 정확하지 않을 수 있습니다." id="89" name="Google Shape;89;p1"/>
          <p:cNvPicPr preferRelativeResize="0"/>
          <p:nvPr/>
        </p:nvPicPr>
        <p:blipFill rotWithShape="1">
          <a:blip r:embed="rId4">
            <a:alphaModFix/>
          </a:blip>
          <a:srcRect b="570" l="531" r="3615" t="760"/>
          <a:stretch/>
        </p:blipFill>
        <p:spPr>
          <a:xfrm>
            <a:off x="312972" y="599365"/>
            <a:ext cx="8083898" cy="561498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01085" y="599365"/>
            <a:ext cx="8095785" cy="5614988"/>
          </a:xfrm>
          <a:prstGeom prst="rect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2594065" y="1723616"/>
            <a:ext cx="3488468" cy="3488468"/>
            <a:chOff x="2390418" y="1547091"/>
            <a:chExt cx="3681532" cy="3681533"/>
          </a:xfrm>
        </p:grpSpPr>
        <p:grpSp>
          <p:nvGrpSpPr>
            <p:cNvPr id="92" name="Google Shape;92;p1"/>
            <p:cNvGrpSpPr/>
            <p:nvPr/>
          </p:nvGrpSpPr>
          <p:grpSpPr>
            <a:xfrm>
              <a:off x="2981274" y="2137947"/>
              <a:ext cx="2499820" cy="2499900"/>
              <a:chOff x="4410948" y="2706255"/>
              <a:chExt cx="2499820" cy="2499900"/>
            </a:xfrm>
          </p:grpSpPr>
          <p:cxnSp>
            <p:nvCxnSpPr>
              <p:cNvPr id="93" name="Google Shape;93;p1"/>
              <p:cNvCxnSpPr>
                <a:stCxn id="94" idx="0"/>
                <a:endCxn id="94" idx="4"/>
              </p:cNvCxnSpPr>
              <p:nvPr/>
            </p:nvCxnSpPr>
            <p:spPr>
              <a:xfrm>
                <a:off x="5660858" y="2706255"/>
                <a:ext cx="0" cy="2499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4" name="Google Shape;94;p1"/>
              <p:cNvSpPr/>
              <p:nvPr/>
            </p:nvSpPr>
            <p:spPr>
              <a:xfrm>
                <a:off x="4410948" y="2706255"/>
                <a:ext cx="2499820" cy="2499820"/>
              </a:xfrm>
              <a:prstGeom prst="ellipse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95" name="Google Shape;95;p1"/>
              <p:cNvCxnSpPr/>
              <p:nvPr/>
            </p:nvCxnSpPr>
            <p:spPr>
              <a:xfrm>
                <a:off x="4410948" y="3959447"/>
                <a:ext cx="249982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6" name="Google Shape;96;p1"/>
            <p:cNvSpPr/>
            <p:nvPr/>
          </p:nvSpPr>
          <p:spPr>
            <a:xfrm>
              <a:off x="2390418" y="1547091"/>
              <a:ext cx="3681532" cy="3681533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97" name="Google Shape;97;p1"/>
          <p:cNvGraphicFramePr/>
          <p:nvPr/>
        </p:nvGraphicFramePr>
        <p:xfrm>
          <a:off x="12533313" y="631825"/>
          <a:ext cx="2471737" cy="5614988"/>
        </p:xfrm>
        <a:graphic>
          <a:graphicData uri="http://schemas.openxmlformats.org/presentationml/2006/ole">
            <mc:AlternateContent>
              <mc:Choice Requires="v">
                <p:oleObj r:id="rId5" imgH="5614988" imgW="2471737" progId="Excel.Sheet.12" spid="_x0000_s1">
                  <p:embed/>
                </p:oleObj>
              </mc:Choice>
              <mc:Fallback>
                <p:oleObj r:id="rId6" imgH="5614988" imgW="2471737" progId="Excel.Sheet.12">
                  <p:embed/>
                  <p:pic>
                    <p:nvPicPr>
                      <p:cNvPr id="97" name="Google Shape;97;p1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2533313" y="631825"/>
                        <a:ext cx="2471737" cy="561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Google Shape;98;p1"/>
          <p:cNvGraphicFramePr/>
          <p:nvPr/>
        </p:nvGraphicFramePr>
        <p:xfrm>
          <a:off x="8600704" y="38983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{A17C933A-4444-4D1C-B4A3-3C3B16173B71}</a:tableStyleId>
              </a:tblPr>
              <a:tblGrid>
                <a:gridCol w="670500"/>
                <a:gridCol w="670500"/>
                <a:gridCol w="670500"/>
                <a:gridCol w="670500"/>
                <a:gridCol w="670500"/>
              </a:tblGrid>
              <a:tr h="338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남20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남30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여20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여30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합계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38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16.1%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21.7%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7.9%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7.0%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52.7%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1"/>
          <p:cNvSpPr txBox="1"/>
          <p:nvPr/>
        </p:nvSpPr>
        <p:spPr>
          <a:xfrm>
            <a:off x="8551325" y="3564174"/>
            <a:ext cx="11721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타겟 비율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8540350" y="2374083"/>
            <a:ext cx="110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타겟수요</a:t>
            </a:r>
            <a:endParaRPr b="1"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1" name="Google Shape;101;p1"/>
          <p:cNvGraphicFramePr/>
          <p:nvPr/>
        </p:nvGraphicFramePr>
        <p:xfrm>
          <a:off x="8600700" y="26832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{A17C933A-4444-4D1C-B4A3-3C3B16173B71}</a:tableStyleId>
              </a:tblPr>
              <a:tblGrid>
                <a:gridCol w="1117525"/>
                <a:gridCol w="1117525"/>
                <a:gridCol w="1117525"/>
              </a:tblGrid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배후수요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타겟비율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타겟수요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487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52.7%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highlight>
                            <a:srgbClr val="FFFF00"/>
                          </a:highlight>
                        </a:rPr>
                        <a:t>257명</a:t>
                      </a:r>
                      <a:endParaRPr b="1"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1"/>
          <p:cNvSpPr txBox="1"/>
          <p:nvPr/>
        </p:nvSpPr>
        <p:spPr>
          <a:xfrm>
            <a:off x="8544915" y="1218802"/>
            <a:ext cx="110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임차조건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8563737" y="4726739"/>
            <a:ext cx="24663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예상매출액 및 월별 IRR</a:t>
            </a:r>
            <a:endParaRPr b="1"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4" name="Google Shape;104;p1"/>
          <p:cNvGraphicFramePr/>
          <p:nvPr/>
        </p:nvGraphicFramePr>
        <p:xfrm>
          <a:off x="8608746" y="15265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{A17C933A-4444-4D1C-B4A3-3C3B16173B71}</a:tableStyleId>
              </a:tblPr>
              <a:tblGrid>
                <a:gridCol w="974000"/>
                <a:gridCol w="1312075"/>
                <a:gridCol w="1058400"/>
              </a:tblGrid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보증금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월세(관리비)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권리금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/>
                        <a:t>1,000만원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60만원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-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5" name="Google Shape;105;p1"/>
          <p:cNvSpPr txBox="1"/>
          <p:nvPr/>
        </p:nvSpPr>
        <p:spPr>
          <a:xfrm>
            <a:off x="8561593" y="497567"/>
            <a:ext cx="33174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대전광역시 유성구 봉산로 16번길 28_셀피아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06" name="Google Shape;106;p1"/>
          <p:cNvGraphicFramePr/>
          <p:nvPr/>
        </p:nvGraphicFramePr>
        <p:xfrm>
          <a:off x="8608745" y="50345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{A17C933A-4444-4D1C-B4A3-3C3B16173B71}</a:tableStyleId>
              </a:tblPr>
              <a:tblGrid>
                <a:gridCol w="568700"/>
                <a:gridCol w="1126275"/>
                <a:gridCol w="810000"/>
                <a:gridCol w="810000"/>
              </a:tblGrid>
              <a:tr h="28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예상 매출액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직영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가맹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8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평균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4,467,357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38.0%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23.0%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상한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5,767,591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55.8%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35.3%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하한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3,167,123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20.8%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10.1%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1"/>
          <p:cNvSpPr txBox="1"/>
          <p:nvPr/>
        </p:nvSpPr>
        <p:spPr>
          <a:xfrm>
            <a:off x="2796007" y="2360288"/>
            <a:ext cx="834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184</a:t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4015693" y="2369288"/>
            <a:ext cx="834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236</a:t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3987883" y="3548535"/>
            <a:ext cx="834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209</a:t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5324923" y="2360287"/>
            <a:ext cx="834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36</a:t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4088240" y="1145238"/>
            <a:ext cx="834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97</a:t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3987882" y="4773841"/>
            <a:ext cx="834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109</a:t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2883373" y="4779831"/>
            <a:ext cx="834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58</a:t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2830715" y="3531659"/>
            <a:ext cx="834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140</a:t>
            </a:r>
            <a:endParaRPr b="1"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, 폰트, 로고, 그래픽이(가) 표시된 사진&#10;&#10;AI 생성 콘텐츠는 정확하지 않을 수 있습니다." id="115" name="Google Shape;115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61028" y="5126004"/>
            <a:ext cx="454665" cy="3813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"/>
          <p:cNvSpPr/>
          <p:nvPr/>
        </p:nvSpPr>
        <p:spPr>
          <a:xfrm>
            <a:off x="2598234" y="1728439"/>
            <a:ext cx="2943922" cy="2843561"/>
          </a:xfrm>
          <a:custGeom>
            <a:rect b="b" l="l" r="r" t="t"/>
            <a:pathLst>
              <a:path extrusionOk="0" h="2843561" w="2943922">
                <a:moveTo>
                  <a:pt x="1583473" y="11151"/>
                </a:moveTo>
                <a:lnTo>
                  <a:pt x="1538868" y="44605"/>
                </a:lnTo>
                <a:lnTo>
                  <a:pt x="44605" y="1315844"/>
                </a:lnTo>
                <a:lnTo>
                  <a:pt x="0" y="1884556"/>
                </a:lnTo>
                <a:lnTo>
                  <a:pt x="111512" y="2352907"/>
                </a:lnTo>
                <a:lnTo>
                  <a:pt x="2118732" y="2843561"/>
                </a:lnTo>
                <a:lnTo>
                  <a:pt x="2542478" y="2509024"/>
                </a:lnTo>
                <a:lnTo>
                  <a:pt x="1683834" y="1516566"/>
                </a:lnTo>
                <a:lnTo>
                  <a:pt x="2943922" y="490654"/>
                </a:lnTo>
                <a:lnTo>
                  <a:pt x="2687444" y="278781"/>
                </a:lnTo>
                <a:lnTo>
                  <a:pt x="2364059" y="111512"/>
                </a:lnTo>
                <a:lnTo>
                  <a:pt x="1929161" y="0"/>
                </a:lnTo>
                <a:lnTo>
                  <a:pt x="1583473" y="11151"/>
                </a:lnTo>
                <a:close/>
              </a:path>
            </a:pathLst>
          </a:custGeom>
          <a:solidFill>
            <a:srgbClr val="FFC000">
              <a:alpha val="34901"/>
            </a:srgb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3200400" y="1737360"/>
            <a:ext cx="2320290" cy="2068830"/>
          </a:xfrm>
          <a:custGeom>
            <a:rect b="b" l="l" r="r" t="t"/>
            <a:pathLst>
              <a:path extrusionOk="0" h="2068830" w="2320290">
                <a:moveTo>
                  <a:pt x="1360170" y="1851660"/>
                </a:moveTo>
                <a:lnTo>
                  <a:pt x="1085850" y="2068830"/>
                </a:lnTo>
                <a:lnTo>
                  <a:pt x="0" y="788670"/>
                </a:lnTo>
                <a:lnTo>
                  <a:pt x="982980" y="0"/>
                </a:lnTo>
                <a:lnTo>
                  <a:pt x="1325880" y="11430"/>
                </a:lnTo>
                <a:lnTo>
                  <a:pt x="1714500" y="102870"/>
                </a:lnTo>
                <a:lnTo>
                  <a:pt x="2103120" y="262890"/>
                </a:lnTo>
                <a:lnTo>
                  <a:pt x="2308860" y="480060"/>
                </a:lnTo>
                <a:lnTo>
                  <a:pt x="2320290" y="502920"/>
                </a:lnTo>
                <a:lnTo>
                  <a:pt x="1085850" y="1485900"/>
                </a:lnTo>
                <a:lnTo>
                  <a:pt x="1360170" y="1851660"/>
                </a:lnTo>
                <a:close/>
              </a:path>
            </a:pathLst>
          </a:custGeom>
          <a:solidFill>
            <a:srgbClr val="FF0000">
              <a:alpha val="34901"/>
            </a:srgbClr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18" name="Google Shape;118;p1"/>
          <p:cNvCxnSpPr>
            <a:endCxn id="112" idx="2"/>
          </p:cNvCxnSpPr>
          <p:nvPr/>
        </p:nvCxnSpPr>
        <p:spPr>
          <a:xfrm>
            <a:off x="4309301" y="1721906"/>
            <a:ext cx="96000" cy="3513600"/>
          </a:xfrm>
          <a:prstGeom prst="straightConnector1">
            <a:avLst/>
          </a:prstGeom>
          <a:noFill/>
          <a:ln cap="flat" cmpd="sng" w="76200">
            <a:solidFill>
              <a:schemeClr val="dk1">
                <a:alpha val="50196"/>
              </a:schemeClr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/>
          <p:nvPr/>
        </p:nvSpPr>
        <p:spPr>
          <a:xfrm>
            <a:off x="312972" y="599365"/>
            <a:ext cx="8095785" cy="5501398"/>
          </a:xfrm>
          <a:prstGeom prst="rect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25" name="Google Shape;125;p2"/>
          <p:cNvGraphicFramePr/>
          <p:nvPr/>
        </p:nvGraphicFramePr>
        <p:xfrm>
          <a:off x="12486265" y="631825"/>
          <a:ext cx="2474912" cy="5468938"/>
        </p:xfrm>
        <a:graphic>
          <a:graphicData uri="http://schemas.openxmlformats.org/presentationml/2006/ole">
            <mc:AlternateContent>
              <mc:Choice Requires="v">
                <p:oleObj r:id="rId4" imgH="5468938" imgW="2474912" progId="Excel.Sheet.12" spid="_x0000_s1">
                  <p:embed/>
                </p:oleObj>
              </mc:Choice>
              <mc:Fallback>
                <p:oleObj r:id="rId5" imgH="5468938" imgW="2474912" progId="Excel.Sheet.12">
                  <p:embed/>
                  <p:pic>
                    <p:nvPicPr>
                      <p:cNvPr id="125" name="Google Shape;125;p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2486265" y="631825"/>
                        <a:ext cx="2474912" cy="546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Google Shape;126;p2"/>
          <p:cNvGraphicFramePr/>
          <p:nvPr/>
        </p:nvGraphicFramePr>
        <p:xfrm>
          <a:off x="8600704" y="38983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{A17C933A-4444-4D1C-B4A3-3C3B16173B71}</a:tableStyleId>
              </a:tblPr>
              <a:tblGrid>
                <a:gridCol w="670500"/>
                <a:gridCol w="670500"/>
                <a:gridCol w="670500"/>
                <a:gridCol w="670500"/>
                <a:gridCol w="670500"/>
              </a:tblGrid>
              <a:tr h="338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남20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남30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여20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여30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합계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38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9.6%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16.9%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7.0%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12.9%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46.4%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2"/>
          <p:cNvSpPr txBox="1"/>
          <p:nvPr/>
        </p:nvSpPr>
        <p:spPr>
          <a:xfrm>
            <a:off x="8551325" y="3564174"/>
            <a:ext cx="11721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타겟 비율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8540350" y="2374083"/>
            <a:ext cx="110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타겟수요</a:t>
            </a:r>
            <a:endParaRPr b="1"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29" name="Google Shape;129;p2"/>
          <p:cNvGraphicFramePr/>
          <p:nvPr/>
        </p:nvGraphicFramePr>
        <p:xfrm>
          <a:off x="8600700" y="26832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{A17C933A-4444-4D1C-B4A3-3C3B16173B71}</a:tableStyleId>
              </a:tblPr>
              <a:tblGrid>
                <a:gridCol w="1117525"/>
                <a:gridCol w="1117525"/>
                <a:gridCol w="1117525"/>
              </a:tblGrid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배후수요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타겟비율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타겟수요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371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46.4%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highlight>
                            <a:srgbClr val="FFFF00"/>
                          </a:highlight>
                        </a:rPr>
                        <a:t>172명</a:t>
                      </a:r>
                      <a:endParaRPr b="1" sz="12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2"/>
          <p:cNvSpPr txBox="1"/>
          <p:nvPr/>
        </p:nvSpPr>
        <p:spPr>
          <a:xfrm>
            <a:off x="8544915" y="1218802"/>
            <a:ext cx="110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임차조건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8563737" y="4726739"/>
            <a:ext cx="24663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예상매출액 및 월별 IRR</a:t>
            </a:r>
            <a:endParaRPr b="1"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32" name="Google Shape;132;p2"/>
          <p:cNvGraphicFramePr/>
          <p:nvPr/>
        </p:nvGraphicFramePr>
        <p:xfrm>
          <a:off x="8608746" y="15265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{A17C933A-4444-4D1C-B4A3-3C3B16173B71}</a:tableStyleId>
              </a:tblPr>
              <a:tblGrid>
                <a:gridCol w="974000"/>
                <a:gridCol w="1312075"/>
                <a:gridCol w="1058400"/>
              </a:tblGrid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보증금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월세(관리비)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권리금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en-US" sz="1200" u="none" cap="none" strike="noStrike"/>
                        <a:t>-만원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-만원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-만원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2"/>
          <p:cNvSpPr txBox="1"/>
          <p:nvPr/>
        </p:nvSpPr>
        <p:spPr>
          <a:xfrm>
            <a:off x="8561593" y="497567"/>
            <a:ext cx="33916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주소 : 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34" name="Google Shape;134;p2"/>
          <p:cNvGraphicFramePr/>
          <p:nvPr/>
        </p:nvGraphicFramePr>
        <p:xfrm>
          <a:off x="8608745" y="50345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{A17C933A-4444-4D1C-B4A3-3C3B16173B71}</a:tableStyleId>
              </a:tblPr>
              <a:tblGrid>
                <a:gridCol w="568700"/>
                <a:gridCol w="1126275"/>
                <a:gridCol w="810000"/>
                <a:gridCol w="810000"/>
              </a:tblGrid>
              <a:tr h="28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b="0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예상 매출액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직영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가맹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8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평균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3,965,096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00.0%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00.0%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상한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5,265,329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00.0%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00.0%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하한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2,664,862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00.0%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00.0%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35" name="Google Shape;135;p2"/>
          <p:cNvCxnSpPr/>
          <p:nvPr/>
        </p:nvCxnSpPr>
        <p:spPr>
          <a:xfrm>
            <a:off x="2736647" y="2744094"/>
            <a:ext cx="2941106" cy="973968"/>
          </a:xfrm>
          <a:prstGeom prst="straightConnector1">
            <a:avLst/>
          </a:prstGeom>
          <a:noFill/>
          <a:ln cap="flat" cmpd="sng" w="76200">
            <a:solidFill>
              <a:schemeClr val="dk1">
                <a:alpha val="50196"/>
              </a:schemeClr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36" name="Google Shape;136;p2"/>
          <p:cNvGrpSpPr/>
          <p:nvPr/>
        </p:nvGrpSpPr>
        <p:grpSpPr>
          <a:xfrm>
            <a:off x="2512224" y="1538943"/>
            <a:ext cx="3488468" cy="3488468"/>
            <a:chOff x="2390418" y="1547091"/>
            <a:chExt cx="3681532" cy="3681533"/>
          </a:xfrm>
        </p:grpSpPr>
        <p:grpSp>
          <p:nvGrpSpPr>
            <p:cNvPr id="137" name="Google Shape;137;p2"/>
            <p:cNvGrpSpPr/>
            <p:nvPr/>
          </p:nvGrpSpPr>
          <p:grpSpPr>
            <a:xfrm>
              <a:off x="2981274" y="2137947"/>
              <a:ext cx="2499820" cy="2499900"/>
              <a:chOff x="4410948" y="2706255"/>
              <a:chExt cx="2499820" cy="2499900"/>
            </a:xfrm>
          </p:grpSpPr>
          <p:cxnSp>
            <p:nvCxnSpPr>
              <p:cNvPr id="138" name="Google Shape;138;p2"/>
              <p:cNvCxnSpPr>
                <a:stCxn id="139" idx="0"/>
                <a:endCxn id="139" idx="4"/>
              </p:cNvCxnSpPr>
              <p:nvPr/>
            </p:nvCxnSpPr>
            <p:spPr>
              <a:xfrm>
                <a:off x="5660858" y="2706255"/>
                <a:ext cx="0" cy="24999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9" name="Google Shape;139;p2"/>
              <p:cNvSpPr/>
              <p:nvPr/>
            </p:nvSpPr>
            <p:spPr>
              <a:xfrm>
                <a:off x="4410948" y="2706255"/>
                <a:ext cx="2499820" cy="2499820"/>
              </a:xfrm>
              <a:prstGeom prst="ellipse">
                <a:avLst/>
              </a:prstGeom>
              <a:noFill/>
              <a:ln cap="flat" cmpd="sng" w="19050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cxnSp>
            <p:nvCxnSpPr>
              <p:cNvPr id="140" name="Google Shape;140;p2"/>
              <p:cNvCxnSpPr/>
              <p:nvPr/>
            </p:nvCxnSpPr>
            <p:spPr>
              <a:xfrm>
                <a:off x="4410948" y="3959447"/>
                <a:ext cx="249982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41" name="Google Shape;141;p2"/>
            <p:cNvSpPr/>
            <p:nvPr/>
          </p:nvSpPr>
          <p:spPr>
            <a:xfrm>
              <a:off x="2390418" y="1547091"/>
              <a:ext cx="3681532" cy="3681533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2025-10-22T06:23:54Z</dcterms:created>
  <dc:creator>Crown Karena</dc:creator>
</cp:coreProperties>
</file>