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A96C1F-DC23-41EA-AB4C-001268280F01}">
  <a:tblStyle styleId="{83A96C1F-DC23-41EA-AB4C-001268280F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69a83f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69a83f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663083" y="-26410"/>
            <a:ext cx="238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대전광역시 유성구 봉산로 16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번길 28_셀피아</a:t>
            </a:r>
            <a:endParaRPr b="1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80000" cy="514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3"/>
          <p:cNvGraphicFramePr/>
          <p:nvPr/>
        </p:nvGraphicFramePr>
        <p:xfrm>
          <a:off x="6663088" y="599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{83A96C1F-DC23-41EA-AB4C-001268280F01}</a:tableStyleId>
              </a:tblPr>
              <a:tblGrid>
                <a:gridCol w="740400"/>
                <a:gridCol w="740400"/>
                <a:gridCol w="740400"/>
              </a:tblGrid>
              <a:tr h="3197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222222"/>
                          </a:solidFill>
                        </a:rPr>
                        <a:t>임차조건(단위:만원)</a:t>
                      </a:r>
                      <a:endParaRPr b="1" sz="900">
                        <a:solidFill>
                          <a:srgbClr val="222222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보증금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월세(관리비)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권리금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60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6663088" y="1602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{83A96C1F-DC23-41EA-AB4C-001268280F01}</a:tableStyleId>
              </a:tblPr>
              <a:tblGrid>
                <a:gridCol w="740825"/>
                <a:gridCol w="740825"/>
                <a:gridCol w="740825"/>
              </a:tblGrid>
              <a:tr h="211675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222222"/>
                          </a:solidFill>
                        </a:rPr>
                        <a:t>타겟수요</a:t>
                      </a:r>
                      <a:endParaRPr b="1" sz="900">
                        <a:solidFill>
                          <a:srgbClr val="22222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11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배후수요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타겟비율(%)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타겟수요(명)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11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487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52.7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257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6663088" y="2607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{83A96C1F-DC23-41EA-AB4C-001268280F01}</a:tableStyleId>
              </a:tblPr>
              <a:tblGrid>
                <a:gridCol w="444500"/>
                <a:gridCol w="444500"/>
                <a:gridCol w="444500"/>
                <a:gridCol w="444500"/>
                <a:gridCol w="444500"/>
              </a:tblGrid>
              <a:tr h="290150"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222222"/>
                          </a:solidFill>
                        </a:rPr>
                        <a:t>타겟 비율</a:t>
                      </a:r>
                      <a:endParaRPr b="1" sz="900">
                        <a:solidFill>
                          <a:srgbClr val="22222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남20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남20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여20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여30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합계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6663088" y="3611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{83A96C1F-DC23-41EA-AB4C-001268280F01}</a:tableStyleId>
              </a:tblPr>
              <a:tblGrid>
                <a:gridCol w="555625"/>
                <a:gridCol w="555625"/>
                <a:gridCol w="555625"/>
                <a:gridCol w="555625"/>
              </a:tblGrid>
              <a:tr h="100000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222222"/>
                          </a:solidFill>
                        </a:rPr>
                        <a:t>타겟수요</a:t>
                      </a:r>
                      <a:endParaRPr b="1" sz="900">
                        <a:solidFill>
                          <a:srgbClr val="22222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4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-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예상 매출액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직영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직영</a:t>
                      </a:r>
                      <a:endParaRPr sz="8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평균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상한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하한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